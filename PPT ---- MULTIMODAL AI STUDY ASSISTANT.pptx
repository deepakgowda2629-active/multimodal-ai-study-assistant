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5"/>
  </p:notesMasterIdLst>
  <p:sldIdLst>
    <p:sldId id="483" r:id="rId2"/>
    <p:sldId id="484" r:id="rId3"/>
    <p:sldId id="470" r:id="rId4"/>
    <p:sldId id="488" r:id="rId5"/>
    <p:sldId id="478" r:id="rId6"/>
    <p:sldId id="482" r:id="rId7"/>
    <p:sldId id="486" r:id="rId8"/>
    <p:sldId id="489" r:id="rId9"/>
    <p:sldId id="490" r:id="rId10"/>
    <p:sldId id="485" r:id="rId11"/>
    <p:sldId id="487" r:id="rId12"/>
    <p:sldId id="473" r:id="rId13"/>
    <p:sldId id="468" r:id="rId14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82" d="100"/>
          <a:sy n="82" d="100"/>
        </p:scale>
        <p:origin x="941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81642" y="1759646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Kavin Mahendhiran &amp; Mr. Asad Mohammed Khan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Computer Science &amp; Technology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Pallavi R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Teja </a:t>
            </a:r>
            <a:r>
              <a:rPr lang="en-US" sz="2000" b="1" i="0" u="none" strike="noStrike" cap="none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Sirapu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3207" y="-190208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MULTIMODAL AI STUDY ASSISTANT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666462"/>
              </p:ext>
            </p:extLst>
          </p:nvPr>
        </p:nvGraphicFramePr>
        <p:xfrm>
          <a:off x="317096" y="1656958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Deepak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20241CSG0020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5CSG01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544" y="136525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IN" sz="2000" b="1" dirty="0"/>
              <a:t>Header:</a:t>
            </a:r>
            <a:r>
              <a:rPr lang="en-IN" sz="2000" dirty="0"/>
              <a:t> Organization Overview &amp; Infrastructure</a:t>
            </a:r>
          </a:p>
          <a:p>
            <a:r>
              <a:rPr lang="en-IN" sz="2000" b="1" dirty="0"/>
              <a:t>Sub-header:</a:t>
            </a:r>
            <a:r>
              <a:rPr lang="en-IN" sz="2000" dirty="0"/>
              <a:t> AI Centre of Excellence – Presidency University</a:t>
            </a:r>
          </a:p>
          <a:p>
            <a:pPr lvl="0"/>
            <a:r>
              <a:rPr lang="en-IN" sz="2000" b="1" dirty="0"/>
              <a:t>Host Institution:</a:t>
            </a:r>
            <a:r>
              <a:rPr lang="en-IN" sz="2000" dirty="0"/>
              <a:t> Presidency School of AI and Advanced Computing (PSAC), Presidency University, Bengaluru. </a:t>
            </a:r>
          </a:p>
          <a:p>
            <a:pPr lvl="0"/>
            <a:r>
              <a:rPr lang="en-IN" sz="2000" b="1" dirty="0"/>
              <a:t>Dedicated </a:t>
            </a:r>
            <a:r>
              <a:rPr lang="en-IN" sz="2000" b="1" dirty="0" err="1"/>
              <a:t>Center</a:t>
            </a:r>
            <a:r>
              <a:rPr lang="en-IN" sz="2000" b="1" dirty="0"/>
              <a:t>:</a:t>
            </a:r>
            <a:r>
              <a:rPr lang="en-IN" sz="2000" dirty="0"/>
              <a:t> AI Centre of Excellence (AI </a:t>
            </a:r>
            <a:r>
              <a:rPr lang="en-IN" sz="2000" dirty="0" err="1"/>
              <a:t>CoE</a:t>
            </a:r>
            <a:r>
              <a:rPr lang="en-IN" sz="2000" dirty="0"/>
              <a:t>), accelerated directly by NVIDIA. </a:t>
            </a:r>
          </a:p>
          <a:p>
            <a:pPr lvl="0"/>
            <a:r>
              <a:rPr lang="en-IN" sz="2000" b="1" dirty="0"/>
              <a:t>Flagship Program:</a:t>
            </a:r>
            <a:r>
              <a:rPr lang="en-IN" sz="2000" dirty="0"/>
              <a:t> 2-Week (30 Contact Hours / 2 Academic Credits) Summer Internship Program in AI &amp; High-Performance Computing. </a:t>
            </a:r>
          </a:p>
          <a:p>
            <a:pPr lvl="0"/>
            <a:r>
              <a:rPr lang="en-IN" sz="2000" b="1" dirty="0"/>
              <a:t>Industry-Grade Hardware:</a:t>
            </a:r>
            <a:r>
              <a:rPr lang="en-IN" sz="2000" dirty="0"/>
              <a:t> Powered by enterprise-grade </a:t>
            </a:r>
            <a:r>
              <a:rPr lang="en-IN" sz="2000" b="1" dirty="0"/>
              <a:t>NVIDIA H200 Tensor Core GPUs</a:t>
            </a:r>
            <a:r>
              <a:rPr lang="en-IN" sz="2000" dirty="0"/>
              <a:t> featuring 141 GB HBM3e memory and 4.8 TB/s memory bandwidth for high-performance deep learning workloads. </a:t>
            </a:r>
          </a:p>
          <a:p>
            <a:pPr lvl="0"/>
            <a:r>
              <a:rPr lang="en-IN" sz="2000" b="1" dirty="0"/>
              <a:t>Lab Environment:</a:t>
            </a:r>
            <a:r>
              <a:rPr lang="en-IN" sz="2000" dirty="0"/>
              <a:t> Cloud-hosted </a:t>
            </a:r>
            <a:r>
              <a:rPr lang="en-IN" sz="2000" dirty="0" err="1"/>
              <a:t>JupyterHub</a:t>
            </a:r>
            <a:r>
              <a:rPr lang="en-IN" sz="2000" dirty="0"/>
              <a:t> GPU cluster with full CUDA 12.x, </a:t>
            </a:r>
            <a:r>
              <a:rPr lang="en-IN" sz="2000" dirty="0" err="1"/>
              <a:t>PyTorch</a:t>
            </a:r>
            <a:r>
              <a:rPr lang="en-IN" sz="2000" dirty="0"/>
              <a:t> 2.x, </a:t>
            </a:r>
            <a:r>
              <a:rPr lang="en-IN" sz="2000" dirty="0" err="1"/>
              <a:t>vLLM</a:t>
            </a:r>
            <a:r>
              <a:rPr lang="en-IN" sz="2000" dirty="0"/>
              <a:t>, and Hugging Face ecosystem support. 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C85DC-2C6D-F847-4614-1F9F81428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99278" y="179882"/>
            <a:ext cx="9144000" cy="55690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EDC5B-874C-FF0E-32C3-F413F36C4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9351" y="961636"/>
            <a:ext cx="9618689" cy="4700899"/>
          </a:xfrm>
        </p:spPr>
        <p:txBody>
          <a:bodyPr/>
          <a:lstStyle/>
          <a:p>
            <a:pPr lvl="0" algn="just"/>
            <a:r>
              <a:rPr lang="en-IN" sz="2000" b="1" dirty="0"/>
              <a:t>Core Focus Areas:</a:t>
            </a:r>
            <a:r>
              <a:rPr lang="en-IN" sz="2000" dirty="0"/>
              <a:t> Deep Learning (CNNs, </a:t>
            </a:r>
            <a:r>
              <a:rPr lang="en-IN" sz="2000" dirty="0" err="1"/>
              <a:t>PyTorch</a:t>
            </a:r>
            <a:r>
              <a:rPr lang="en-IN" sz="2000" dirty="0"/>
              <a:t>), Large Language Models (</a:t>
            </a:r>
            <a:r>
              <a:rPr lang="en-IN" sz="2000" dirty="0" err="1"/>
              <a:t>LLaMA</a:t>
            </a:r>
            <a:r>
              <a:rPr lang="en-IN" sz="2000" dirty="0"/>
              <a:t> 3, </a:t>
            </a:r>
            <a:r>
              <a:rPr lang="en-IN" sz="2000" dirty="0" err="1"/>
              <a:t>QLoRA</a:t>
            </a:r>
            <a:r>
              <a:rPr lang="en-IN" sz="2000" dirty="0"/>
              <a:t>, Fine-Tuning), Generative AI (Stable Diffusion XL), and GPU Optimization (</a:t>
            </a:r>
            <a:r>
              <a:rPr lang="en-IN" sz="2000" dirty="0" err="1"/>
              <a:t>FlashAttention</a:t>
            </a:r>
            <a:r>
              <a:rPr lang="en-IN" sz="2000" dirty="0"/>
              <a:t>, Mixed Precision). </a:t>
            </a:r>
          </a:p>
          <a:p>
            <a:pPr lvl="0" algn="just"/>
            <a:r>
              <a:rPr lang="en-IN" sz="2000" b="1" dirty="0"/>
              <a:t>Key Deliverables &amp; Products:</a:t>
            </a:r>
            <a:r>
              <a:rPr lang="en-IN" sz="2000" dirty="0"/>
              <a:t> Development of practical capstone projects including custom LLM RAG pipelines, fine-tuned domain models, and real-time computer vision systems. </a:t>
            </a:r>
          </a:p>
          <a:p>
            <a:pPr lvl="0" algn="just"/>
            <a:r>
              <a:rPr lang="en-IN" sz="2000" b="1" dirty="0"/>
              <a:t>Target Audience &amp; Learners:</a:t>
            </a:r>
            <a:r>
              <a:rPr lang="en-IN" sz="2000" dirty="0"/>
              <a:t> Undergraduate and graduate students in CS, AI, Data Science, and Engineering seeking practical GPU computing experience. </a:t>
            </a:r>
          </a:p>
          <a:p>
            <a:pPr lvl="0" algn="just"/>
            <a:r>
              <a:rPr lang="en-IN" sz="2000" b="1" dirty="0"/>
              <a:t>Industry &amp; External Collaborators:</a:t>
            </a:r>
            <a:r>
              <a:rPr lang="en-IN" sz="2000" dirty="0"/>
              <a:t> Industry partner workshops, guest lectures, and external technical leadership led by partners such as </a:t>
            </a:r>
            <a:r>
              <a:rPr lang="en-IN" sz="2000" b="1" dirty="0" err="1"/>
              <a:t>Spheronix</a:t>
            </a:r>
            <a:r>
              <a:rPr lang="en-IN" sz="2000" b="1" dirty="0"/>
              <a:t> Technology</a:t>
            </a:r>
            <a:r>
              <a:rPr lang="en-IN" sz="2000" dirty="0"/>
              <a:t>. </a:t>
            </a:r>
          </a:p>
          <a:p>
            <a:pPr lvl="0" algn="just"/>
            <a:r>
              <a:rPr lang="en-IN" sz="2000" b="1" dirty="0"/>
              <a:t>Leadership &amp; Execution:</a:t>
            </a:r>
            <a:r>
              <a:rPr lang="en-IN" sz="2000" dirty="0"/>
              <a:t> Directed by Dr. Robin Rohit Vincent (Head, AI </a:t>
            </a:r>
            <a:r>
              <a:rPr lang="en-IN" sz="2000" dirty="0" err="1"/>
              <a:t>CoE</a:t>
            </a:r>
            <a:r>
              <a:rPr lang="en-IN" sz="2000" dirty="0"/>
              <a:t> NVIDIA), Dr. </a:t>
            </a:r>
            <a:r>
              <a:rPr lang="en-IN" sz="2000" dirty="0" err="1"/>
              <a:t>Shakkeera</a:t>
            </a:r>
            <a:r>
              <a:rPr lang="en-IN" sz="2000" dirty="0"/>
              <a:t> L (Associate Dean), and Dr. S. Sivaperumal (Pro Vice-Chancellor). 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98503318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662" y="-134911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4709"/>
            <a:ext cx="10515600" cy="4058194"/>
          </a:xfrm>
        </p:spPr>
        <p:txBody>
          <a:bodyPr/>
          <a:lstStyle/>
          <a:p>
            <a:pPr marL="0" indent="0">
              <a:buNone/>
            </a:pPr>
            <a:endParaRPr lang="en-IN" sz="1400" dirty="0"/>
          </a:p>
          <a:p>
            <a:pPr lvl="0"/>
            <a:r>
              <a:rPr lang="en-IN" sz="1400" b="1" dirty="0"/>
              <a:t>Core Technology Stack:</a:t>
            </a:r>
            <a:endParaRPr lang="en-IN" sz="1400" dirty="0"/>
          </a:p>
          <a:p>
            <a:pPr lvl="1"/>
            <a:r>
              <a:rPr lang="en-IN" sz="1400" b="1" dirty="0"/>
              <a:t>Large Language Models:</a:t>
            </a:r>
            <a:r>
              <a:rPr lang="en-IN" sz="1400" dirty="0"/>
              <a:t> Google Gemini 2.5 Flash API with real-time response streaming and custom exponential backoff retry mechanisms.</a:t>
            </a:r>
          </a:p>
          <a:p>
            <a:pPr lvl="1"/>
            <a:r>
              <a:rPr lang="en-IN" sz="1400" b="1" dirty="0"/>
              <a:t>Application Framework:</a:t>
            </a:r>
            <a:r>
              <a:rPr lang="en-IN" sz="1400" dirty="0"/>
              <a:t> Python, </a:t>
            </a:r>
            <a:r>
              <a:rPr lang="en-IN" sz="1400" dirty="0" err="1"/>
              <a:t>Streamlit</a:t>
            </a:r>
            <a:r>
              <a:rPr lang="en-IN" sz="1400" dirty="0"/>
              <a:t> (for reactive state machine management), and </a:t>
            </a:r>
            <a:r>
              <a:rPr lang="en-IN" sz="1400" dirty="0" err="1"/>
              <a:t>PyNgrok</a:t>
            </a:r>
            <a:r>
              <a:rPr lang="en-IN" sz="1400" dirty="0"/>
              <a:t> (for cloud reverse </a:t>
            </a:r>
            <a:r>
              <a:rPr lang="en-IN" sz="1400" dirty="0" err="1"/>
              <a:t>tunneling</a:t>
            </a:r>
            <a:r>
              <a:rPr lang="en-IN" sz="1400" dirty="0"/>
              <a:t>).</a:t>
            </a:r>
          </a:p>
          <a:p>
            <a:pPr lvl="1"/>
            <a:r>
              <a:rPr lang="en-IN" sz="1400" b="1" dirty="0"/>
              <a:t>Document &amp; Vision Parsing:</a:t>
            </a:r>
            <a:r>
              <a:rPr lang="en-IN" sz="1400" dirty="0"/>
              <a:t> </a:t>
            </a:r>
            <a:r>
              <a:rPr lang="en-IN" sz="1400" dirty="0" err="1"/>
              <a:t>PyPDF</a:t>
            </a:r>
            <a:r>
              <a:rPr lang="en-IN" sz="1400" dirty="0"/>
              <a:t>, Python-Docx, Python-PPTX, and Pillow (PIL) for extracting text, layout, and visual data across 10+ file types.</a:t>
            </a:r>
          </a:p>
          <a:p>
            <a:pPr lvl="1"/>
            <a:r>
              <a:rPr lang="en-IN" sz="1400" b="1" dirty="0"/>
              <a:t>Audio Synthesis &amp; Media:</a:t>
            </a:r>
            <a:r>
              <a:rPr lang="en-IN" sz="1400" dirty="0"/>
              <a:t> Google Text-to-Speech (</a:t>
            </a:r>
            <a:r>
              <a:rPr lang="en-IN" sz="1400" dirty="0" err="1"/>
              <a:t>gTTS</a:t>
            </a:r>
            <a:r>
              <a:rPr lang="en-IN" sz="1400" dirty="0"/>
              <a:t>) and direct byte-stream multimedia handling for MP3, WAV, MP4, and video formats.</a:t>
            </a:r>
          </a:p>
          <a:p>
            <a:pPr lvl="0"/>
            <a:r>
              <a:rPr lang="en-IN" sz="1400" b="1" dirty="0"/>
              <a:t>Key Features Developed:</a:t>
            </a:r>
            <a:endParaRPr lang="en-IN" sz="1400" dirty="0"/>
          </a:p>
          <a:p>
            <a:pPr lvl="1"/>
            <a:r>
              <a:rPr lang="en-IN" sz="1400" b="1" dirty="0"/>
              <a:t>Streaming Doubt Engine:</a:t>
            </a:r>
            <a:r>
              <a:rPr lang="en-IN" sz="1400" dirty="0"/>
              <a:t> Real-time, multi-turn conversational chat with persistent session memory.</a:t>
            </a:r>
          </a:p>
          <a:p>
            <a:pPr lvl="1"/>
            <a:r>
              <a:rPr lang="en-IN" sz="1400" b="1" dirty="0"/>
              <a:t>Multimodal Auto-Solver:</a:t>
            </a:r>
            <a:r>
              <a:rPr lang="en-IN" sz="1400" dirty="0"/>
              <a:t> Automatic step-by-step math and engineering derivations from raw scans, PDFs, and Word documents.</a:t>
            </a:r>
          </a:p>
          <a:p>
            <a:pPr lvl="1"/>
            <a:r>
              <a:rPr lang="en-IN" sz="1400" b="1" dirty="0"/>
              <a:t>Multi-Paper PYQ Analyzer:</a:t>
            </a:r>
            <a:r>
              <a:rPr lang="en-IN" sz="1400" dirty="0"/>
              <a:t> Simultaneous cross-analysis of up to 4 past-year exam papers to identify topic weightings and trends.</a:t>
            </a:r>
          </a:p>
          <a:p>
            <a:pPr lvl="1"/>
            <a:r>
              <a:rPr lang="en-IN" sz="1400" b="1" dirty="0"/>
              <a:t>Handwritten Notes Evaluator:</a:t>
            </a:r>
            <a:r>
              <a:rPr lang="en-IN" sz="1400" dirty="0"/>
              <a:t> Finite state machine that generates mock tests from notes and delivers professor-level grading reports.</a:t>
            </a:r>
          </a:p>
          <a:p>
            <a:pPr lvl="1"/>
            <a:r>
              <a:rPr lang="en-IN" sz="1400" b="1" dirty="0"/>
              <a:t>Audio/Video Summarizer &amp; Multilingual Teacher:</a:t>
            </a:r>
            <a:r>
              <a:rPr lang="en-IN" sz="1400" dirty="0"/>
              <a:t> Direct timeline extraction into study notes and translation into natural spoken audio lectures (English, Hindi, Kannada, French).</a:t>
            </a:r>
          </a:p>
          <a:p>
            <a:pPr lvl="0"/>
            <a:r>
              <a:rPr lang="en-IN" sz="1400" b="1" dirty="0"/>
              <a:t>Industry Importance &amp; Value:</a:t>
            </a:r>
            <a:endParaRPr lang="en-IN" sz="1400" dirty="0"/>
          </a:p>
          <a:p>
            <a:pPr lvl="1"/>
            <a:r>
              <a:rPr lang="en-IN" sz="1400" b="1" dirty="0"/>
              <a:t>Eliminates Format Friction:</a:t>
            </a:r>
            <a:r>
              <a:rPr lang="en-IN" sz="1400" dirty="0"/>
              <a:t> Consolidates text, images, slides, and audio into a single context window, saving significant study preparation time.</a:t>
            </a:r>
          </a:p>
          <a:p>
            <a:pPr lvl="1"/>
            <a:r>
              <a:rPr lang="en-IN" sz="1400" b="1" dirty="0"/>
              <a:t>Active Learning &amp; Assessment:</a:t>
            </a:r>
            <a:r>
              <a:rPr lang="en-IN" sz="1400" dirty="0"/>
              <a:t> Replaces passive reading with interactive mock testing, automated feedback, and audio-based pedagogical reinforcement.</a:t>
            </a:r>
          </a:p>
          <a:p>
            <a:pPr marL="0" indent="0" algn="just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91769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9810"/>
            <a:ext cx="10515600" cy="4058194"/>
          </a:xfrm>
        </p:spPr>
        <p:txBody>
          <a:bodyPr/>
          <a:lstStyle/>
          <a:p>
            <a:pPr lvl="0"/>
            <a:r>
              <a:rPr lang="en-IN" sz="1500" b="1" dirty="0"/>
              <a:t>Strategic Purpose:</a:t>
            </a:r>
            <a:endParaRPr lang="en-IN" sz="1500" dirty="0"/>
          </a:p>
          <a:p>
            <a:pPr lvl="1"/>
            <a:r>
              <a:rPr lang="en-IN" sz="1500" dirty="0"/>
              <a:t>To build a unified, cloud-hosted AI educational suite that consolidates multi-format study workflows into a single interface.</a:t>
            </a:r>
          </a:p>
          <a:p>
            <a:pPr lvl="1"/>
            <a:r>
              <a:rPr lang="en-IN" sz="1500" dirty="0"/>
              <a:t>To eliminate manual administrative tasks like document parsing, transcription, and study schedule planning.</a:t>
            </a:r>
          </a:p>
          <a:p>
            <a:pPr lvl="0"/>
            <a:r>
              <a:rPr lang="en-IN" sz="1500" b="1" dirty="0"/>
              <a:t>Primary Functional Goals:</a:t>
            </a:r>
            <a:endParaRPr lang="en-IN" sz="1500" dirty="0"/>
          </a:p>
          <a:p>
            <a:pPr lvl="1"/>
            <a:r>
              <a:rPr lang="en-IN" sz="1500" b="1" dirty="0"/>
              <a:t>Real-Time Doubt Resolution:</a:t>
            </a:r>
            <a:r>
              <a:rPr lang="en-IN" sz="1500" dirty="0"/>
              <a:t> Deliver an interactive conversational chat with immediate token streaming to resolve complex academic queries instantly.</a:t>
            </a:r>
          </a:p>
          <a:p>
            <a:pPr lvl="1"/>
            <a:r>
              <a:rPr lang="en-IN" sz="1500" b="1" dirty="0"/>
              <a:t>Multimodal Problem Solving:</a:t>
            </a:r>
            <a:r>
              <a:rPr lang="en-IN" sz="1500" dirty="0"/>
              <a:t> Automatically parse handwritten scans, multi-page PDFs, and Word documents to generate step-by-step mathematical and technical derivations.</a:t>
            </a:r>
          </a:p>
          <a:p>
            <a:pPr lvl="1"/>
            <a:r>
              <a:rPr lang="en-IN" sz="1500" b="1" dirty="0"/>
              <a:t>Dynamic Exam </a:t>
            </a:r>
            <a:r>
              <a:rPr lang="en-IN" sz="1500" b="1" dirty="0" err="1"/>
              <a:t>Roadmapping</a:t>
            </a:r>
            <a:r>
              <a:rPr lang="en-IN" sz="1500" b="1" dirty="0"/>
              <a:t>:</a:t>
            </a:r>
            <a:r>
              <a:rPr lang="en-IN" sz="1500" dirty="0"/>
              <a:t> Compute target exam date deltas automatically to generate personalized, day-by-day study schedules.</a:t>
            </a:r>
          </a:p>
          <a:p>
            <a:pPr lvl="1"/>
            <a:r>
              <a:rPr lang="en-IN" sz="1500" b="1" dirty="0"/>
              <a:t>Multi-Paper Trend Analytics:</a:t>
            </a:r>
            <a:r>
              <a:rPr lang="en-IN" sz="1500" dirty="0"/>
              <a:t> Perform cross-document analysis on up to 4 past-year examination papers simultaneously to reveal high-probability topics and unit weightings.</a:t>
            </a:r>
          </a:p>
          <a:p>
            <a:pPr lvl="1"/>
            <a:r>
              <a:rPr lang="en-IN" sz="1500" b="1" dirty="0"/>
              <a:t>Active Recall &amp; Mock Testing:</a:t>
            </a:r>
            <a:r>
              <a:rPr lang="en-IN" sz="1500" dirty="0"/>
              <a:t> Ingest student notes, generate tailored conceptual examination questions, collect responses, and deliver professor-level grading reports with mistake breakdowns.</a:t>
            </a:r>
          </a:p>
          <a:p>
            <a:pPr lvl="1"/>
            <a:r>
              <a:rPr lang="en-IN" sz="1500" b="1" dirty="0"/>
              <a:t>Lecture &amp; Multilingual Audio Synthesis:</a:t>
            </a:r>
            <a:r>
              <a:rPr lang="en-IN" sz="1500" dirty="0"/>
              <a:t> Ingest recorded lecture media (.mp3, .mp4) for timeline summaries, and convert slide decks into natural spoken audio lectures across multiple languages (English, Hindi, Kannada, French).</a:t>
            </a:r>
          </a:p>
          <a:p>
            <a:pPr lvl="0"/>
            <a:r>
              <a:rPr lang="en-IN" sz="1500" b="1" dirty="0"/>
              <a:t>Usage &amp; Real-World Impact:</a:t>
            </a:r>
            <a:endParaRPr lang="en-IN" sz="1500" dirty="0"/>
          </a:p>
          <a:p>
            <a:pPr lvl="1"/>
            <a:r>
              <a:rPr lang="en-IN" sz="1500" b="1" dirty="0"/>
              <a:t>For Students:</a:t>
            </a:r>
            <a:r>
              <a:rPr lang="en-IN" sz="1500" dirty="0"/>
              <a:t> Provides 24/7 personal tutoring, automates active recall self-assessment, and reduces study preparation time.</a:t>
            </a:r>
          </a:p>
          <a:p>
            <a:pPr lvl="1"/>
            <a:r>
              <a:rPr lang="en-IN" sz="1500" b="1" dirty="0"/>
              <a:t>Operational Efficiency:</a:t>
            </a:r>
            <a:r>
              <a:rPr lang="en-IN" sz="1500" dirty="0"/>
              <a:t> Processes text, images, slides, audio, and video under a single unified Gemini context window without requiring separate specialized tools.</a:t>
            </a:r>
          </a:p>
          <a:p>
            <a:pPr marL="0" indent="0" algn="just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72" y="-191769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328" y="432600"/>
            <a:ext cx="10515600" cy="4058194"/>
          </a:xfrm>
        </p:spPr>
        <p:txBody>
          <a:bodyPr/>
          <a:lstStyle/>
          <a:p>
            <a:pPr lvl="0"/>
            <a:r>
              <a:rPr lang="en-IN" sz="1800" b="1" dirty="0"/>
              <a:t>Cloud-Native Runtime Environment:</a:t>
            </a:r>
            <a:endParaRPr lang="en-IN" sz="1800" dirty="0"/>
          </a:p>
          <a:p>
            <a:pPr lvl="1"/>
            <a:r>
              <a:rPr lang="en-IN" sz="1800" dirty="0"/>
              <a:t>Deployed inside a cloud-hosted Python execution workspace for high-performance processing.</a:t>
            </a:r>
          </a:p>
          <a:p>
            <a:pPr lvl="1"/>
            <a:r>
              <a:rPr lang="en-IN" sz="1800" dirty="0"/>
              <a:t>Utilizes </a:t>
            </a:r>
            <a:r>
              <a:rPr lang="en-IN" sz="1800" b="1" dirty="0" err="1"/>
              <a:t>Streamlit</a:t>
            </a:r>
            <a:r>
              <a:rPr lang="en-IN" sz="1800" dirty="0"/>
              <a:t> as the reactive front-end framework to manage UI components, session state variables, and real-time user interactions.</a:t>
            </a:r>
          </a:p>
          <a:p>
            <a:pPr lvl="0"/>
            <a:r>
              <a:rPr lang="en-IN" sz="1800" b="1" dirty="0"/>
              <a:t>Secure Ingress &amp; Remote Deployment:</a:t>
            </a:r>
            <a:endParaRPr lang="en-IN" sz="1800" dirty="0"/>
          </a:p>
          <a:p>
            <a:pPr lvl="1"/>
            <a:r>
              <a:rPr lang="en-IN" sz="1800" dirty="0"/>
              <a:t>Integrates </a:t>
            </a:r>
            <a:r>
              <a:rPr lang="en-IN" sz="1800" b="1" dirty="0" err="1"/>
              <a:t>PyNgrok</a:t>
            </a:r>
            <a:r>
              <a:rPr lang="en-IN" sz="1800" dirty="0"/>
              <a:t> for dynamic HTTP/HTTPS reverse </a:t>
            </a:r>
            <a:r>
              <a:rPr lang="en-IN" sz="1800" dirty="0" err="1"/>
              <a:t>tunneling</a:t>
            </a:r>
            <a:r>
              <a:rPr lang="en-IN" sz="1800" dirty="0"/>
              <a:t>.</a:t>
            </a:r>
          </a:p>
          <a:p>
            <a:pPr lvl="1"/>
            <a:r>
              <a:rPr lang="en-IN" sz="1800" dirty="0"/>
              <a:t>Systematically terminates stale processes, launches the </a:t>
            </a:r>
            <a:r>
              <a:rPr lang="en-IN" sz="1800" dirty="0" err="1"/>
              <a:t>Streamlit</a:t>
            </a:r>
            <a:r>
              <a:rPr lang="en-IN" sz="1800" dirty="0"/>
              <a:t> server on port 8501, and exposes a secure live public URL.</a:t>
            </a:r>
          </a:p>
          <a:p>
            <a:pPr lvl="0"/>
            <a:r>
              <a:rPr lang="en-IN" sz="1800" b="1" dirty="0"/>
              <a:t>Core API &amp; Multimodal Model Integration:</a:t>
            </a:r>
            <a:endParaRPr lang="en-IN" sz="1800" dirty="0"/>
          </a:p>
          <a:p>
            <a:pPr lvl="1"/>
            <a:r>
              <a:rPr lang="en-IN" sz="1800" dirty="0"/>
              <a:t>Powered by Google's gemini-2.5-flash model via the official google-</a:t>
            </a:r>
            <a:r>
              <a:rPr lang="en-IN" sz="1800" dirty="0" err="1"/>
              <a:t>genai</a:t>
            </a:r>
            <a:r>
              <a:rPr lang="en-IN" sz="1800" dirty="0"/>
              <a:t> SDK.</a:t>
            </a:r>
          </a:p>
          <a:p>
            <a:pPr lvl="1"/>
            <a:r>
              <a:rPr lang="en-IN" sz="1800" dirty="0"/>
              <a:t>Configured for low-latency, real-time response generation using </a:t>
            </a:r>
            <a:r>
              <a:rPr lang="en-IN" sz="1800" dirty="0" err="1"/>
              <a:t>client.models.generate_content_stream</a:t>
            </a:r>
            <a:r>
              <a:rPr lang="en-IN" sz="1800" dirty="0"/>
              <a:t>.</a:t>
            </a:r>
          </a:p>
          <a:p>
            <a:pPr lvl="0"/>
            <a:r>
              <a:rPr lang="en-IN" sz="1800" b="1" dirty="0"/>
              <a:t>Fault-Tolerant Streaming Pipeline:</a:t>
            </a:r>
            <a:endParaRPr lang="en-IN" sz="1800" dirty="0"/>
          </a:p>
          <a:p>
            <a:pPr lvl="1"/>
            <a:r>
              <a:rPr lang="en-IN" sz="1800" dirty="0"/>
              <a:t>Engineered a custom </a:t>
            </a:r>
            <a:r>
              <a:rPr lang="en-IN" sz="1800" dirty="0" err="1"/>
              <a:t>safe_stream_generator</a:t>
            </a:r>
            <a:r>
              <a:rPr lang="en-IN" sz="1800" dirty="0"/>
              <a:t> wrapper around the API stream.</a:t>
            </a:r>
          </a:p>
          <a:p>
            <a:pPr lvl="1"/>
            <a:r>
              <a:rPr lang="en-IN" sz="1800" dirty="0"/>
              <a:t>Implements automated retry loops with </a:t>
            </a:r>
            <a:r>
              <a:rPr lang="en-IN" sz="1800" b="1" dirty="0"/>
              <a:t>exponential backoff</a:t>
            </a:r>
            <a:r>
              <a:rPr lang="en-IN" sz="1800" dirty="0"/>
              <a:t> to handle server saturation (e.g., 503 Overloaded errors) without crashing active </a:t>
            </a:r>
            <a:r>
              <a:rPr lang="en-IN" sz="1800" dirty="0" err="1"/>
              <a:t>Streamlit</a:t>
            </a:r>
            <a:r>
              <a:rPr lang="en-IN" sz="1800" dirty="0"/>
              <a:t> user sessions.</a:t>
            </a: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B699-06E7-E922-8989-A4A412F1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64368" y="0"/>
            <a:ext cx="9144000" cy="646842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EEDB6-1DBD-44D9-7329-959E66417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685" y="646842"/>
            <a:ext cx="11232630" cy="4327759"/>
          </a:xfrm>
        </p:spPr>
        <p:txBody>
          <a:bodyPr/>
          <a:lstStyle/>
          <a:p>
            <a:pPr lvl="0" algn="just"/>
            <a:r>
              <a:rPr lang="en-IN" sz="1800" b="1" dirty="0"/>
              <a:t>Unified Input Ingestion Engine:</a:t>
            </a:r>
            <a:endParaRPr lang="en-IN" sz="1800" dirty="0"/>
          </a:p>
          <a:p>
            <a:pPr lvl="1" algn="just"/>
            <a:r>
              <a:rPr lang="en-IN" sz="1800" dirty="0"/>
              <a:t>Native handling for text files, scanned images, multi-page PDFs, Word documents (.docx), PowerPoint presentations (.pptx), audio tracks, and video files.</a:t>
            </a:r>
          </a:p>
          <a:p>
            <a:pPr lvl="0" algn="just"/>
            <a:r>
              <a:rPr lang="en-IN" sz="1800" b="1" dirty="0"/>
              <a:t>Document &amp; Vision Parsing Pipeline:</a:t>
            </a:r>
            <a:endParaRPr lang="en-IN" sz="1800" dirty="0"/>
          </a:p>
          <a:p>
            <a:pPr lvl="1" algn="just"/>
            <a:r>
              <a:rPr lang="en-IN" sz="1800" b="1" dirty="0" err="1"/>
              <a:t>PyPDF</a:t>
            </a:r>
            <a:r>
              <a:rPr lang="en-IN" sz="1800" b="1" dirty="0"/>
              <a:t> &amp; Python-Docx/PPTX:</a:t>
            </a:r>
            <a:r>
              <a:rPr lang="en-IN" sz="1800" dirty="0"/>
              <a:t> Extracts raw structured text, section hierarchies, and layout data directly from uploaded study materials.</a:t>
            </a:r>
          </a:p>
          <a:p>
            <a:pPr lvl="1" algn="just"/>
            <a:r>
              <a:rPr lang="en-IN" sz="1800" b="1" dirty="0"/>
              <a:t>Pillow (PIL) Vision Handling:</a:t>
            </a:r>
            <a:r>
              <a:rPr lang="en-IN" sz="1800" dirty="0"/>
              <a:t> Pre-processes high-resolution scans of handwritten assignment notes and technical diagrams before passing them into the multimodal model vision pipeline.</a:t>
            </a:r>
          </a:p>
          <a:p>
            <a:pPr lvl="0" algn="just"/>
            <a:r>
              <a:rPr lang="en-IN" sz="1800" b="1" dirty="0"/>
              <a:t>Direct Audio &amp; Video Processing Pipeline:</a:t>
            </a:r>
            <a:endParaRPr lang="en-IN" sz="1800" dirty="0"/>
          </a:p>
          <a:p>
            <a:pPr lvl="1" algn="just"/>
            <a:r>
              <a:rPr lang="en-IN" sz="1800" dirty="0"/>
              <a:t>Converts audio (.mp3, .wav) and video (.mp4) files into byte streams, sending them directly to the multimodal model context without requiring third-party intermediate speech-to-text tools.</a:t>
            </a:r>
          </a:p>
          <a:p>
            <a:pPr lvl="1" algn="just"/>
            <a:r>
              <a:rPr lang="en-IN" sz="1800" dirty="0"/>
              <a:t>Extracts timeline highlights, key definitions, and slides mentioned during recorded lectures.</a:t>
            </a:r>
          </a:p>
          <a:p>
            <a:pPr lvl="0" algn="just"/>
            <a:r>
              <a:rPr lang="en-IN" sz="1800" b="1" dirty="0"/>
              <a:t>Multilingual Audio Teacher Synthesis:</a:t>
            </a:r>
            <a:endParaRPr lang="en-IN" sz="1800" dirty="0"/>
          </a:p>
          <a:p>
            <a:pPr lvl="1" algn="just"/>
            <a:r>
              <a:rPr lang="en-IN" sz="1800" dirty="0"/>
              <a:t>Implements </a:t>
            </a:r>
            <a:r>
              <a:rPr lang="en-IN" sz="1800" b="1" dirty="0" err="1"/>
              <a:t>gTTS</a:t>
            </a:r>
            <a:r>
              <a:rPr lang="en-IN" sz="1800" b="1" dirty="0"/>
              <a:t> (Google Text-to-Speech)</a:t>
            </a:r>
            <a:r>
              <a:rPr lang="en-IN" sz="1800" dirty="0"/>
              <a:t> to translate document summaries and script generations into natural spoken MP3 audio in English, Hindi, Kannada, and French.</a:t>
            </a:r>
          </a:p>
          <a:p>
            <a:pPr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07024691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6F1E-E95F-0B9E-EBD0-19CA720D6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79357" y="0"/>
            <a:ext cx="9144000" cy="610849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E5D0EA5-9BF0-8186-AEC3-4E2F91A4674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29718" y="753906"/>
                <a:ext cx="10752944" cy="4402710"/>
              </a:xfrm>
            </p:spPr>
            <p:txBody>
              <a:bodyPr/>
              <a:lstStyle/>
              <a:p>
                <a:pPr lvl="0" algn="just"/>
                <a:r>
                  <a:rPr lang="en-IN" sz="2000" b="1" dirty="0"/>
                  <a:t>Streaming Doubt </a:t>
                </a:r>
                <a:r>
                  <a:rPr lang="en-IN" sz="2000" b="1" dirty="0" err="1"/>
                  <a:t>ChatBox</a:t>
                </a:r>
                <a:r>
                  <a:rPr lang="en-IN" sz="2000" b="1" dirty="0"/>
                  <a:t>:</a:t>
                </a:r>
                <a:endParaRPr lang="en-IN" sz="2000" dirty="0"/>
              </a:p>
              <a:p>
                <a:pPr lvl="1" algn="just"/>
                <a:r>
                  <a:rPr lang="en-IN" dirty="0"/>
                  <a:t>Maintains persistent multi-turn conversational memory via </a:t>
                </a:r>
                <a:r>
                  <a:rPr lang="en-IN" dirty="0" err="1"/>
                  <a:t>st.session_state</a:t>
                </a:r>
                <a:r>
                  <a:rPr lang="en-IN" dirty="0"/>
                  <a:t> to track historical user prompts and context.</a:t>
                </a:r>
              </a:p>
              <a:p>
                <a:pPr lvl="0" algn="just"/>
                <a:r>
                  <a:rPr lang="en-IN" sz="2000" b="1" dirty="0"/>
                  <a:t>Multi-Paper PYQ Trend Analyzer:</a:t>
                </a:r>
                <a:endParaRPr lang="en-IN" sz="2000" dirty="0"/>
              </a:p>
              <a:p>
                <a:pPr lvl="1" algn="just"/>
                <a:r>
                  <a:rPr lang="en-IN" dirty="0"/>
                  <a:t>Ingests up to 4 past-year exam papers simultaneously, constructing a combined prompt payload to identify cross-document unit weightings, question frequency, and core topics.</a:t>
                </a:r>
              </a:p>
              <a:p>
                <a:pPr lvl="0" algn="just"/>
                <a:r>
                  <a:rPr lang="en-IN" sz="2000" b="1" dirty="0"/>
                  <a:t>Interactive Mock Test &amp; Notes Assessment FSM:</a:t>
                </a:r>
                <a:endParaRPr lang="en-IN" sz="2000" dirty="0"/>
              </a:p>
              <a:p>
                <a:pPr lvl="1" algn="just"/>
                <a:r>
                  <a:rPr lang="en-IN" dirty="0"/>
                  <a:t>Implements a 4-tier Finite State Machine (upload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answering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grading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report).</a:t>
                </a:r>
              </a:p>
              <a:p>
                <a:pPr lvl="1" algn="just"/>
                <a:r>
                  <a:rPr lang="en-IN" dirty="0"/>
                  <a:t>Ingests student notes, dynamically generates tailored questions, locks user input fields during test mode, and outputs a professor-level grading rubric with target answers.</a:t>
                </a:r>
              </a:p>
              <a:p>
                <a:pPr lvl="0" algn="just"/>
                <a:r>
                  <a:rPr lang="en-IN" sz="2000" b="1" dirty="0"/>
                  <a:t>Dynamic Exam Roadmap Engine:</a:t>
                </a:r>
                <a:endParaRPr lang="en-IN" sz="2000" dirty="0"/>
              </a:p>
              <a:p>
                <a:pPr lvl="1" algn="just"/>
                <a:r>
                  <a:rPr lang="en-IN" dirty="0"/>
                  <a:t>Computes date deltas between the current calendar date and target exam dates, calculating daily study unit quotas and revision buffers.</a:t>
                </a:r>
              </a:p>
              <a:p>
                <a:pPr algn="just"/>
                <a:endParaRPr lang="en-IN" sz="2000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7E5D0EA5-9BF0-8186-AEC3-4E2F91A467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29718" y="753906"/>
                <a:ext cx="10752944" cy="4402710"/>
              </a:xfrm>
              <a:blipFill>
                <a:blip r:embed="rId2"/>
                <a:stretch>
                  <a:fillRect l="-567" t="-1524" r="-624" b="-1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400551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872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210" y="589439"/>
            <a:ext cx="10515600" cy="4351338"/>
          </a:xfrm>
        </p:spPr>
        <p:txBody>
          <a:bodyPr/>
          <a:lstStyle/>
          <a:p>
            <a:pPr lvl="0"/>
            <a:r>
              <a:rPr lang="en-IN" sz="1400" b="1" dirty="0"/>
              <a:t>Low-Latency Streaming Response:</a:t>
            </a:r>
            <a:endParaRPr lang="en-IN" sz="1400" dirty="0"/>
          </a:p>
          <a:p>
            <a:pPr lvl="1"/>
            <a:r>
              <a:rPr lang="en-IN" sz="1400" dirty="0"/>
              <a:t>Achieved sub-second initial token delivery (First Byte Time &lt;1.2s) across conversational queries using the streaming API pipeline.</a:t>
            </a:r>
          </a:p>
          <a:p>
            <a:pPr lvl="1"/>
            <a:r>
              <a:rPr lang="en-IN" sz="1400" dirty="0"/>
              <a:t>Maintained seamless multi-turn conversation flow with context retention across extended chat sessions.</a:t>
            </a:r>
          </a:p>
          <a:p>
            <a:pPr lvl="0"/>
            <a:r>
              <a:rPr lang="en-IN" sz="1400" b="1" dirty="0"/>
              <a:t>Multi-Format Processing Efficiency:</a:t>
            </a:r>
            <a:endParaRPr lang="en-IN" sz="1400" dirty="0"/>
          </a:p>
          <a:p>
            <a:pPr lvl="1"/>
            <a:r>
              <a:rPr lang="en-IN" sz="1400" dirty="0"/>
              <a:t>Successfully ingested and parsed multi-page PDFs, .docx, .pptx, handwritten images, and lecture audio/video formats under a single processing workflow.</a:t>
            </a:r>
          </a:p>
          <a:p>
            <a:pPr lvl="1"/>
            <a:r>
              <a:rPr lang="en-IN" sz="1400" b="1" dirty="0"/>
              <a:t>Multi-Paper PYQ Analytics:</a:t>
            </a:r>
            <a:r>
              <a:rPr lang="en-IN" sz="1400" dirty="0"/>
              <a:t> Combined and </a:t>
            </a:r>
            <a:r>
              <a:rPr lang="en-IN" sz="1400" dirty="0" err="1"/>
              <a:t>analyzed</a:t>
            </a:r>
            <a:r>
              <a:rPr lang="en-IN" sz="1400" dirty="0"/>
              <a:t> up to 4 past-year question papers simultaneously to extract topic weightings and high-frequency questions in under 10 seconds.</a:t>
            </a:r>
          </a:p>
          <a:p>
            <a:pPr lvl="0"/>
            <a:r>
              <a:rPr lang="en-IN" sz="1400" b="1" dirty="0"/>
              <a:t>High-Accuracy Assessment &amp; Feedback:</a:t>
            </a:r>
            <a:endParaRPr lang="en-IN" sz="1400" dirty="0"/>
          </a:p>
          <a:p>
            <a:pPr lvl="1"/>
            <a:r>
              <a:rPr lang="en-IN" sz="1400" b="1" dirty="0"/>
              <a:t>Handwritten Notes Evaluator:</a:t>
            </a:r>
            <a:r>
              <a:rPr lang="en-IN" sz="1400" dirty="0"/>
              <a:t> Successfully extracted key concepts from scanned student notes and automatically generated customized mock exams.</a:t>
            </a:r>
          </a:p>
          <a:p>
            <a:pPr lvl="1"/>
            <a:r>
              <a:rPr lang="en-IN" sz="1400" b="1" dirty="0"/>
              <a:t>Automated Grading Accuracy:</a:t>
            </a:r>
            <a:r>
              <a:rPr lang="en-IN" sz="1400" dirty="0"/>
              <a:t> Delivered detailed, objective rubric evaluations and targeted feedback for student exam submissions across various subjects.</a:t>
            </a:r>
          </a:p>
          <a:p>
            <a:pPr lvl="0"/>
            <a:r>
              <a:rPr lang="en-IN" sz="1400" b="1" dirty="0"/>
              <a:t>System Stability &amp; Reliability:</a:t>
            </a:r>
            <a:endParaRPr lang="en-IN" sz="1400" dirty="0"/>
          </a:p>
          <a:p>
            <a:pPr lvl="1"/>
            <a:r>
              <a:rPr lang="en-IN" sz="1400" dirty="0"/>
              <a:t>Implemented </a:t>
            </a:r>
            <a:r>
              <a:rPr lang="en-IN" sz="1400" dirty="0" err="1"/>
              <a:t>safe_stream_generator</a:t>
            </a:r>
            <a:r>
              <a:rPr lang="en-IN" sz="1400" dirty="0"/>
              <a:t> with exponential backoff, preventing application crashes during high API load or rate-limit events.</a:t>
            </a:r>
          </a:p>
          <a:p>
            <a:pPr lvl="1"/>
            <a:r>
              <a:rPr lang="en-IN" sz="1400" dirty="0"/>
              <a:t>Maintained stable remote public accessibility via </a:t>
            </a:r>
            <a:r>
              <a:rPr lang="en-IN" sz="1400" dirty="0" err="1"/>
              <a:t>PyNgrok</a:t>
            </a:r>
            <a:r>
              <a:rPr lang="en-IN" sz="1400" dirty="0"/>
              <a:t> ingress </a:t>
            </a:r>
            <a:r>
              <a:rPr lang="en-IN" sz="1400" dirty="0" err="1"/>
              <a:t>tunneling</a:t>
            </a:r>
            <a:r>
              <a:rPr lang="en-IN" sz="1400" dirty="0"/>
              <a:t> throughout continuous testing sessions.</a:t>
            </a:r>
          </a:p>
          <a:p>
            <a:pPr lvl="0"/>
            <a:r>
              <a:rPr lang="en-IN" sz="1400" b="1" dirty="0"/>
              <a:t>Multilingual Audio Generation:</a:t>
            </a:r>
            <a:endParaRPr lang="en-IN" sz="1400" dirty="0"/>
          </a:p>
          <a:p>
            <a:pPr lvl="1"/>
            <a:r>
              <a:rPr lang="en-IN" sz="1400" dirty="0"/>
              <a:t>Generated clear MP3 audio lectures from extracted text across English, Hindi, Kannada, and French using integrated </a:t>
            </a:r>
            <a:r>
              <a:rPr lang="en-IN" sz="1400" dirty="0" err="1"/>
              <a:t>gTTS</a:t>
            </a:r>
            <a:r>
              <a:rPr lang="en-IN" sz="1400" dirty="0"/>
              <a:t> pipelines.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6311"/>
            <a:ext cx="10515600" cy="4351338"/>
          </a:xfrm>
        </p:spPr>
        <p:txBody>
          <a:bodyPr/>
          <a:lstStyle/>
          <a:p>
            <a:pPr lvl="0"/>
            <a:r>
              <a:rPr lang="en-IN" sz="1400" b="1" dirty="0"/>
              <a:t>Project Conclusion:</a:t>
            </a:r>
            <a:endParaRPr lang="en-IN" sz="1400" dirty="0"/>
          </a:p>
          <a:p>
            <a:pPr lvl="1"/>
            <a:r>
              <a:rPr lang="en-IN" sz="1400" dirty="0"/>
              <a:t>Successfully developed and deployed a comprehensive, full-stack </a:t>
            </a:r>
            <a:r>
              <a:rPr lang="en-IN" sz="1400" b="1" dirty="0"/>
              <a:t>Multimodal AI Study Assistant</a:t>
            </a:r>
            <a:r>
              <a:rPr lang="en-IN" sz="1400" dirty="0"/>
              <a:t> using </a:t>
            </a:r>
            <a:r>
              <a:rPr lang="en-IN" sz="1400" dirty="0" err="1"/>
              <a:t>Streamlit</a:t>
            </a:r>
            <a:r>
              <a:rPr lang="en-IN" sz="1400" dirty="0"/>
              <a:t>, Google Gemini 2.5 Flash, and </a:t>
            </a:r>
            <a:r>
              <a:rPr lang="en-IN" sz="1400" dirty="0" err="1"/>
              <a:t>PyNgrok</a:t>
            </a:r>
            <a:r>
              <a:rPr lang="en-IN" sz="1400" dirty="0"/>
              <a:t>.</a:t>
            </a:r>
          </a:p>
          <a:p>
            <a:pPr lvl="1"/>
            <a:r>
              <a:rPr lang="en-IN" sz="1400" dirty="0"/>
              <a:t>Consolidated fragmented academic workflows—including doubt resolution, document parsing, exam preparation, past paper analytics, handwritten note evaluation, and lecture audio generation—into a single unified workspace.</a:t>
            </a:r>
          </a:p>
          <a:p>
            <a:pPr lvl="1"/>
            <a:r>
              <a:rPr lang="en-IN" sz="1400" dirty="0"/>
              <a:t>Demonstrated the power of combining multimodal LLMs with reactive finite state machine UI architectures to automate active learning and personalized study management.</a:t>
            </a:r>
          </a:p>
          <a:p>
            <a:pPr lvl="0"/>
            <a:r>
              <a:rPr lang="en-IN" sz="1400" b="1" dirty="0"/>
              <a:t>Key Deliverables Met:</a:t>
            </a:r>
            <a:endParaRPr lang="en-IN" sz="1400" dirty="0"/>
          </a:p>
          <a:p>
            <a:pPr lvl="1"/>
            <a:r>
              <a:rPr lang="en-IN" sz="1400" b="1" dirty="0"/>
              <a:t>Zero-Friction Ingestion:</a:t>
            </a:r>
            <a:r>
              <a:rPr lang="en-IN" sz="1400" dirty="0"/>
              <a:t> Seamless processing of text, scans, PDFs, Office docs, audio, and video without external intermediate tooling.</a:t>
            </a:r>
          </a:p>
          <a:p>
            <a:pPr lvl="1"/>
            <a:r>
              <a:rPr lang="en-IN" sz="1400" b="1" dirty="0"/>
              <a:t>Interactive Assessment:</a:t>
            </a:r>
            <a:r>
              <a:rPr lang="en-IN" sz="1400" dirty="0"/>
              <a:t> Fully functional end-to-end mock exam generation and automated grading loop for student notes.</a:t>
            </a:r>
          </a:p>
          <a:p>
            <a:pPr lvl="1"/>
            <a:r>
              <a:rPr lang="en-IN" sz="1400" b="1" dirty="0"/>
              <a:t>Reliability:</a:t>
            </a:r>
            <a:r>
              <a:rPr lang="en-IN" sz="1400" dirty="0"/>
              <a:t> Built-in fault tolerance using exponential backoff retry mechanisms to ensure high availability during real-time streaming.</a:t>
            </a:r>
          </a:p>
          <a:p>
            <a:pPr lvl="0"/>
            <a:r>
              <a:rPr lang="en-IN" sz="1400" b="1" dirty="0"/>
              <a:t>Future Scope &amp; Enhancements:</a:t>
            </a:r>
            <a:endParaRPr lang="en-IN" sz="1400" dirty="0"/>
          </a:p>
          <a:p>
            <a:pPr lvl="1"/>
            <a:r>
              <a:rPr lang="en-IN" sz="1400" b="1" dirty="0"/>
              <a:t>Vector Database Integration:</a:t>
            </a:r>
            <a:r>
              <a:rPr lang="en-IN" sz="1400" dirty="0"/>
              <a:t> Incorporate RAG (Retrieval-Augmented Generation) with </a:t>
            </a:r>
            <a:r>
              <a:rPr lang="en-IN" sz="1400" dirty="0" err="1"/>
              <a:t>ChromaDB</a:t>
            </a:r>
            <a:r>
              <a:rPr lang="en-IN" sz="1400" dirty="0"/>
              <a:t> or FAISS for long-term semantic search over entire semester course packs.</a:t>
            </a:r>
          </a:p>
          <a:p>
            <a:pPr lvl="1"/>
            <a:r>
              <a:rPr lang="en-IN" sz="1400" b="1" dirty="0"/>
              <a:t>Local Model Deployment:</a:t>
            </a:r>
            <a:r>
              <a:rPr lang="en-IN" sz="1400" dirty="0"/>
              <a:t> Add offline processing capability using open-weight models (e.g., </a:t>
            </a:r>
            <a:r>
              <a:rPr lang="en-IN" sz="1400" dirty="0" err="1"/>
              <a:t>LLaMA</a:t>
            </a:r>
            <a:r>
              <a:rPr lang="en-IN" sz="1400" dirty="0"/>
              <a:t> 3 or Qwen2-VL) for bandwidth-constrained environments.</a:t>
            </a:r>
          </a:p>
          <a:p>
            <a:pPr lvl="1"/>
            <a:r>
              <a:rPr lang="en-IN" sz="1400" b="1" dirty="0"/>
              <a:t>Collaborative Study Rooms:</a:t>
            </a:r>
            <a:r>
              <a:rPr lang="en-IN" sz="1400" dirty="0"/>
              <a:t> Expand system state to support multi-user real-time study sessions and peer-to-peer flashcard sharing.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7835</TotalTime>
  <Words>1843</Words>
  <Application>Microsoft Office PowerPoint</Application>
  <PresentationFormat>Widescreen</PresentationFormat>
  <Paragraphs>142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Cambria Math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Objectives of the work</vt:lpstr>
      <vt:lpstr>Methodology Used / Course Description </vt:lpstr>
      <vt:lpstr>Methodology Used / Course Description </vt:lpstr>
      <vt:lpstr>Methodology Used / Course Description </vt:lpstr>
      <vt:lpstr>Results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deepak gowda</cp:lastModifiedBy>
  <cp:revision>941</cp:revision>
  <cp:lastPrinted>2018-07-24T06:37:20Z</cp:lastPrinted>
  <dcterms:created xsi:type="dcterms:W3CDTF">2018-06-07T04:06:17Z</dcterms:created>
  <dcterms:modified xsi:type="dcterms:W3CDTF">2026-08-07T10:35:36Z</dcterms:modified>
</cp:coreProperties>
</file>